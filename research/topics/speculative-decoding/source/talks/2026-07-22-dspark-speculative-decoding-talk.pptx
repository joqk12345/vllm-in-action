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ykYheqIWTetOQF7Koupt1K+tl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分四部分：投机解码原理、Speculators 训练库、DSpark 算法、以及 vLLM + Mooncake 上的集群规模训练。论文数据均引自 arXiv:2607.05147（DSpark, 2026-07-06）。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接受长度 τ 是全场最重要的指标。后面 DSpark 的所有改进，最终都落在 τ 上。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93a9725b_3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593a9725b_3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接受长度 τ 是全场最重要的指标。后面 DSpark 的所有改进，最终都落在 τ 上。</a:t>
            </a:r>
            <a:endParaRPr/>
          </a:p>
        </p:txBody>
      </p:sp>
      <p:sp>
        <p:nvSpPr>
          <p:cNvPr id="112" name="Google Shape;112;g3f593a9725b_3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合集清单为分享时点的快照，讲之前建议再刷一次 HF 页面确认数量。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硬件感知：截断长度同时取决于置信度和当前引擎负载（profiled SPS 曲线）。论文另有 RNN Head 变体，增益主要在长块，部署更复杂，默认用 Markov Head。</a:t>
            </a:r>
            <a:endParaRPr/>
          </a:p>
        </p:txBody>
      </p:sp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反直觉点：并行草稿（DFlash）整体反而比自回归的 Eagle3 强 —— 并行 drafter 是 O(1) 延迟可以堆更深的网络，而位置 1 杠杆最大，一旦被拒整块作废。DSpark 拿走这个优势，同时用 Markov Head 补上块内依赖。</a:t>
            </a:r>
            <a:br>
              <a:rPr lang="en-US"/>
            </a:br>
            <a:r>
              <a:rPr lang="en-US"/>
              <a:t>块长效应（Qwen3-4B, Fig.4）：γ=7 时 Math +16% / Code +15% / Chat +18%；γ=15 时扩大到 +30% / +26% / +22%。</a:t>
            </a:r>
            <a:endParaRPr/>
          </a:p>
        </p:txBody>
      </p:sp>
      <p:sp>
        <p:nvSpPr>
          <p:cNvPr id="352" name="Google Shape;3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对应 vLLM 仓库中 spec-decode 相关的一系列 PR，具体编号建议现场核对后再引用。</a:t>
            </a:r>
            <a:endParaRPr/>
          </a:p>
        </p:txBody>
      </p:sp>
      <p:sp>
        <p:nvSpPr>
          <p:cNvPr id="400" name="Google Shape;4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72 KB/token 与「5 层 × 7168 隐藏维 × bf16 ≈ 70 KiB」量级吻合，自洽。</a:t>
            </a:r>
            <a:br>
              <a:rPr lang="en-US"/>
            </a:br>
            <a:r>
              <a:rPr lang="en-US"/>
              <a:t>但 3.2B × 72KB 按 KB=1024 算约 236 TB、按 KB=1000 算约 230 TB，与页面上的 239 TB 略有出入 —— 讲之前建议自己再核一遍口径。</a:t>
            </a:r>
            <a:br>
              <a:rPr lang="en-US"/>
            </a:br>
            <a:r>
              <a:rPr lang="en-US"/>
              <a:t>离线路线真正的痛点不只是容量，而是：target 换版本或换精度，整个 dump 立刻作废；而且训练时把它读回来，本身就是一堵带宽墙。</a:t>
            </a:r>
            <a:endParaRPr/>
          </a:p>
        </p:txBody>
      </p:sp>
      <p:sp>
        <p:nvSpPr>
          <p:cNvPr id="444" name="Google Shape;4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KV cache 的布局是 [block, block_size, num_heads, head_size]，而辅助激活栈是 [T, L, H]。把 num_heads 声明成 L、head_size 声明成 H，激活就严丝合缝地落进 KV 槽位。</a:t>
            </a:r>
            <a:br>
              <a:rPr lang="en-US"/>
            </a:br>
            <a:r>
              <a:rPr lang="en-US"/>
              <a:t>好处不只是省一次 reshape：分页管理、块分配、槽位映射、生命周期全部沿用 KV cache 现成的机制；前缀缓存也自动生效，重复 prompt 不用重跑 target。</a:t>
            </a:r>
            <a:br>
              <a:rPr lang="en-US"/>
            </a:br>
            <a:r>
              <a:rPr lang="en-US"/>
              <a:t>更关键的是——一旦走 KV 这条路，就自动继承了 vLLM 的 KV connector 生态，下一页 Mooncake 的选择就是顺理成章的。</a:t>
            </a:r>
            <a:br>
              <a:rPr lang="en-US"/>
            </a:br>
            <a:r>
              <a:rPr lang="en-US"/>
              <a:t>实现细节（被问再答）：三次调用 register_buffer → put_from → get_buffer，零拷贝、每样本一次；异步写入线程池 + 独立暂存 CUDA 流，重叠 GPU→host 拷贝。</a:t>
            </a:r>
            <a:endParaRPr/>
          </a:p>
        </p:txBody>
      </p:sp>
      <p:sp>
        <p:nvSpPr>
          <p:cNvPr id="486" name="Google Shape;4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这页的核心逻辑：不是「RDMA 比磁盘快」，而是「需求写完就只剩它」。</a:t>
            </a:r>
            <a:br>
              <a:rPr lang="en-US"/>
            </a:br>
            <a:r>
              <a:rPr lang="en-US"/>
              <a:t>支撑证据：PR #836 里的 mooncake_store.py 实现的就是带元数据的张量存储 —— put/get by key、轮询、删除、驱逐处理；MooncakeStoreConfig 里有 master_server_address、metadata_server、protocol(rdma/tcp)，是典型的 KV store 语义而非点对点传输。</a:t>
            </a:r>
            <a:br>
              <a:rPr lang="en-US"/>
            </a:br>
            <a:r>
              <a:rPr lang="en-US"/>
              <a:t>承接上一页：既然已经把隐藏状态伪装成 KV，就自动继承了 vLLM 的 KV connector 生态，Mooncake 是这个生态里生产级的后端。换别的等于从零写一个 connector。</a:t>
            </a:r>
            <a:br>
              <a:rPr lang="en-US"/>
            </a:br>
            <a:r>
              <a:rPr lang="en-US"/>
              <a:t>PR 作者原话：This will enable training on multi-node setups, or single node without using disk as an intermediary.</a:t>
            </a:r>
            <a:br>
              <a:rPr lang="en-US"/>
            </a:br>
            <a:r>
              <a:rPr lang="en-US"/>
              <a:t>注意：PR #836 截至 2026-07-22 仍是 open、未合入 main，分支 mooncake-on-main，依赖 mooncake-transfer-engine 包。</a:t>
            </a:r>
            <a:br>
              <a:rPr lang="en-US"/>
            </a:br>
            <a:r>
              <a:rPr lang="en-US"/>
              <a:t>被问单节点还要不要用：要，PR 明确说单节点也能靠它避免拿磁盘做中转。</a:t>
            </a:r>
            <a:endParaRPr/>
          </a:p>
        </p:txBody>
      </p:sp>
      <p:sp>
        <p:nvSpPr>
          <p:cNvPr id="520" name="Google Shape;5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serene-zealous-hamilton/mnt/outputs/logo_vllm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1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822960" y="2212848"/>
            <a:ext cx="105430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4600"/>
              <a:buFont typeface="Calibri"/>
              <a:buNone/>
            </a:pPr>
            <a:r>
              <a:rPr b="0" i="0" lang="en-US" sz="46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从投机解码、Speculators 到 DSpark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97280" y="3182112"/>
            <a:ext cx="99943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利用 vLLM、Mooncake 和 Speculators 训练投机解码 Drafter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547208" y="3968496"/>
            <a:ext cx="1097280" cy="0"/>
          </a:xfrm>
          <a:prstGeom prst="straightConnector1">
            <a:avLst/>
          </a:prstGeom>
          <a:noFill/>
          <a:ln cap="flat" cmpd="sng" w="15875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1097280" y="4169664"/>
            <a:ext cx="99943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赵杉佳雯 (Helen Zhao)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97280" y="4517136"/>
            <a:ext cx="9994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2026-Ø7</a:t>
            </a:r>
            <a:r>
              <a:rPr lang="en-US" sz="110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2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本次分享内容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算法原理 → 训练框架 → DSpark → 集群工程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7736" y="2084832"/>
            <a:ext cx="2487168" cy="2487168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27736" y="2377440"/>
            <a:ext cx="2487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Ø1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7736" y="3054096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投机解码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10616" y="3529584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无损加速：小 Drafter 提议，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Target 一次前向验证全部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44088" y="2084832"/>
            <a:ext cx="2487168" cy="2487168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444088" y="2377440"/>
            <a:ext cx="2487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Ø2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444088" y="3054096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Speculators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26968" y="3529584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一个库覆盖从训练、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转换到 vLLM 部署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60440" y="2084832"/>
            <a:ext cx="2487168" cy="2487168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60440" y="2377440"/>
            <a:ext cx="2487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Ø3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60440" y="3054096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DSpark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43320" y="3529584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并行块 + Markov 修正，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块内依赖不再丢失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076792" y="2084832"/>
            <a:ext cx="2487168" cy="2487168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076792" y="2377440"/>
            <a:ext cx="2487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Ø4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076792" y="3054096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集群规模训练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259672" y="3529584"/>
            <a:ext cx="2121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Hidden states</a:t>
            </a: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 提取 </a:t>
            </a:r>
            <a:endParaRPr sz="1150">
              <a:solidFill>
                <a:srgbClr val="5F66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Mooncake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3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投机解码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小型 Drafter 提议 k 个 token；Target 在一次前向传播中验证全部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371600" y="219456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Drafter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246888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轻量 · 提议 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371600" y="29260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320040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 次前向 · 验证 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371600" y="36576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" y="393192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3 + 1 bonus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127248" y="213969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27248" y="213969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84064" y="213969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84064" y="213969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040880" y="213969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040880" y="213969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997696" y="213969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997696" y="213969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lazy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127248" y="287121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127248" y="287121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✓ logprob 一致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84064" y="287121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084064" y="287121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✓ logprob 一致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040880" y="287121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040880" y="287121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✓ logprob 一致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997696" y="287121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F9DEE1"/>
          </a:solidFill>
          <a:ln cap="flat" cmpd="sng" w="12700">
            <a:solidFill>
              <a:srgbClr val="EBB4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997696" y="287121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✗ 此处拒绝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127248" y="360273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127248" y="360273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84064" y="360273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084064" y="360273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040880" y="360273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040880" y="3602736"/>
            <a:ext cx="17007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997696" y="3602736"/>
            <a:ext cx="1700784" cy="493776"/>
          </a:xfrm>
          <a:prstGeom prst="roundRect">
            <a:avLst>
              <a:gd fmla="val 12963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997696" y="3648456"/>
            <a:ext cx="1700784" cy="2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997696" y="3864437"/>
            <a:ext cx="1700784" cy="197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由 Target 重采样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737360" y="4261104"/>
            <a:ext cx="8714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Drafter 一次提议 k 个 token —— 可以是一个并行块（DFlash / DSpark），也可以是 k 次自回归（Draft Model / EAGLE）。Target </a:t>
            </a:r>
            <a:r>
              <a:rPr b="1" i="0" lang="en-US" sz="10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在一次前向中给全部 k 个位置打分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；再按 logprob 做拒绝采样，接受最长正确前缀，并从 Target 自身重采样第一个错位。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286104" y="4718304"/>
            <a:ext cx="2962656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432408" y="4901184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2300"/>
              <a:buFont typeface="Consolas"/>
              <a:buNone/>
            </a:pPr>
            <a:r>
              <a:rPr b="1" i="0" lang="en-US" sz="23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4 tokens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505560" y="5687568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一次验证的代价提交 4 个（3 接受 + 1 重采样）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14520" y="4718304"/>
            <a:ext cx="2962656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760824" y="4901184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300"/>
              <a:buFont typeface="Consolas"/>
              <a:buNone/>
            </a:pPr>
            <a:r>
              <a:rPr b="1" i="0" lang="en-US" sz="2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接受长度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33976" y="5687568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每次 Target 步骤的平均 token 数，决定加速比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942936" y="4718304"/>
            <a:ext cx="2962656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089240" y="4901184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2300"/>
              <a:buFont typeface="Consolas"/>
              <a:buNone/>
            </a:pPr>
            <a:r>
              <a:rPr b="1" i="0" lang="en-US" sz="23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lossless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162392" y="5687568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拒绝采样保持 Target 的精确输出分布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93a9725b_3_62"/>
          <p:cNvSpPr/>
          <p:nvPr/>
        </p:nvSpPr>
        <p:spPr>
          <a:xfrm>
            <a:off x="566928" y="6345936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115" name="Google Shape;115;g3f593a9725b_3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g3f593a9725b_3_62"/>
          <p:cNvCxnSpPr/>
          <p:nvPr/>
        </p:nvCxnSpPr>
        <p:spPr>
          <a:xfrm>
            <a:off x="11001388" y="6446520"/>
            <a:ext cx="0" cy="237600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117" name="Google Shape;117;g3f593a9725b_3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593a9725b_3_62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593a9725b_3_62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g3f593a9725b_3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1563" y="783435"/>
            <a:ext cx="5589124" cy="529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4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129" name="Google Shape;1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Speculators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训练 → 转换 → 服务：一个库，HF 兼容格式，vLLM 原生加载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98064" y="1938528"/>
            <a:ext cx="6601968" cy="859536"/>
          </a:xfrm>
          <a:prstGeom prst="roundRect">
            <a:avLst>
              <a:gd fmla="val 8511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017520" y="2084832"/>
            <a:ext cx="61630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pip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speculators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vllm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serve</a:t>
            </a:r>
            <a:r>
              <a:rPr b="0" i="0" lang="en-US" sz="1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RedHatAI/Qwen3-8B-speculator.</a:t>
            </a:r>
            <a:r>
              <a:rPr lang="en-US" sz="1200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dflash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66064" y="3072384"/>
            <a:ext cx="3200400" cy="1883664"/>
          </a:xfrm>
          <a:prstGeom prst="roundRect">
            <a:avLst>
              <a:gd fmla="val 485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66064" y="3310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模型训练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203808" y="3712464"/>
            <a:ext cx="2724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在线 / 离线 / 混合隐藏状态提取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单层与多层 Drafter 端到端训练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支持 MoE、非 MoE 与视觉语言模型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495648" y="3072384"/>
            <a:ext cx="3200400" cy="1883664"/>
          </a:xfrm>
          <a:prstGeom prst="roundRect">
            <a:avLst>
              <a:gd fmla="val 485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495648" y="3310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数据与工具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33392" y="3712464"/>
            <a:ext cx="2724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用 Target 模型重新生成训练回复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自动助手 mask 发现</a:t>
            </a:r>
            <a:endParaRPr b="0" i="0" sz="1150" u="none" cap="none" strike="noStrike">
              <a:solidFill>
                <a:srgbClr val="5F66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TensorBoard / W&amp;B 实时看训练曲线</a:t>
            </a:r>
            <a:endParaRPr sz="1150">
              <a:solidFill>
                <a:srgbClr val="5F66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025232" y="3072384"/>
            <a:ext cx="3200400" cy="1883664"/>
          </a:xfrm>
          <a:prstGeom prst="roundRect">
            <a:avLst>
              <a:gd fmla="val 4854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8025232" y="3310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部署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262976" y="3712464"/>
            <a:ext cx="2724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HF 兼容格式，可直传 Hugging Face 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vllm serve 从 config.json 自动检测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GuideLLM 一键压测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280160" y="5266944"/>
            <a:ext cx="9628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v0.6.0  ·  Apache-2.0  ·  Python 3.10+  ·  docs.vllm.ai/projects/speculators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5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154" name="Google Shape;1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Drafter 算法全景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从逐 token 自回归到并行块，都能在 Speculators 中训练并在 vLLM 中服务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523848" y="197510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方法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26968" y="1975104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工作方式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9387688" y="197510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草稿风格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1249528" y="2871216"/>
            <a:ext cx="969264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1523848" y="2340864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Draft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626968" y="2340864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传统小模型逐 token 草稿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9387688" y="2340864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自回归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1249528" y="3474720"/>
            <a:ext cx="969264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1523848" y="2944368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MTP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626968" y="2944368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微调 Target 自带的多 token 预测头（FastMTP 路线）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387688" y="2944368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自回归</a:t>
            </a:r>
            <a:endParaRPr b="1" sz="1100">
              <a:solidFill>
                <a:srgbClr val="B8BDC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1249528" y="4078224"/>
            <a:ext cx="969264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1523848" y="3547872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EAGLE-3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26968" y="3547872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融合多层 Target 隐藏状态，一个小草稿层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9387688" y="3547872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自回归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1249528" y="4681728"/>
            <a:ext cx="969264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1523848" y="415137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P-EAGLE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626968" y="4151376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在 EAGLE-3 之上做并行多 token 预测（COD 采样）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9387688" y="4151376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并行位置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1249528" y="5285232"/>
            <a:ext cx="969264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/>
          <p:nvPr/>
        </p:nvSpPr>
        <p:spPr>
          <a:xfrm>
            <a:off x="1523848" y="4754880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DFlash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626968" y="4754880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非因果 mask token 的锚定块草稿，多层辅助隐藏状态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387688" y="4754880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并行块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249528" y="5358384"/>
            <a:ext cx="9692640" cy="530352"/>
          </a:xfrm>
          <a:prstGeom prst="roundRect">
            <a:avLst>
              <a:gd fmla="val 17241" name="adj"/>
            </a:avLst>
          </a:prstGeom>
          <a:solidFill>
            <a:srgbClr val="FDF5E7"/>
          </a:solidFill>
          <a:ln cap="flat" cmpd="sng" w="12700">
            <a:solidFill>
              <a:srgbClr val="F0D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523848" y="5358384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DSpark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26968" y="5358384"/>
            <a:ext cx="5760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DFlash 式并行骨干 + Markov Head 建模块内依赖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9387688" y="5358384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依赖块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280160" y="6053328"/>
            <a:ext cx="96286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训练的 Drafter 即服务的 Drafter —— 同一个 checkpoint，同一份 config，无需胶水代码。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6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195" name="Google Shape;1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RedHatAI 合集：2</a:t>
            </a:r>
            <a:r>
              <a:rPr lang="en-US" sz="3300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 个 drafter，还在增加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1650"/>
              <a:buFont typeface="Calibri"/>
              <a:buNone/>
            </a:pPr>
            <a:r>
              <a:rPr b="0" i="0" lang="en-US" sz="1650" u="sng" cap="none" strike="noStrike">
                <a:solidFill>
                  <a:srgbClr val="2563C9"/>
                </a:solidFill>
                <a:latin typeface="Calibri"/>
                <a:ea typeface="Calibri"/>
                <a:cs typeface="Calibri"/>
                <a:sym typeface="Calibri"/>
              </a:rPr>
              <a:t>hf.co/collections/RedHatAI/speculator-models</a:t>
            </a: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  ·  新 checkpoint 持续发布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41248" y="188366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Llama-3.1-8B-Instruct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41248" y="2147011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Llama-3.3-70B-Instruct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41248" y="241035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Llama-4-Maverick-17B-128E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41248" y="2673706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Qwen3-8B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41248" y="2937053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Qwen3-8B-Thinking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41248" y="320040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Qwen3-14B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41248" y="3463747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Qwen3-32B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41248" y="372709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Qwen3-32B-Thinking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41248" y="3990442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Qwen3-30B-A3B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41248" y="4253789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Qwen3-30B-A3B-Instruct-2507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41248" y="4517136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Qwen3-30B-A3B-Thinking-2507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41248" y="4780483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Qwen3-235B-A22B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41248" y="504383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Qwen3-235B-A22B-Instruct-2507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41248" y="530717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Qwen3-235B-A22B-Thinking-2507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41248" y="5570525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Qwen3-VL-235B-A22B-Instruct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45936" y="188366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Qwen3-8B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345936" y="2147011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Qwen3-8B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.peagle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345936" y="241035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Qwen3-30B-A3B-Instruct-2507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345936" y="267370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gpt-oss-20b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345936" y="2937053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gpt-oss-120b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345936" y="320040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gemma-4-31B-it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345936" y="3463747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gemma-4-31B-it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345936" y="372709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gemma-4-26B-A4B-it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345936" y="3986839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GLM-5.2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.dspark-preview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345936" y="4250186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DeepSeek-V4-Flash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345936" y="4513533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Mellum2-12B-A2.5B-Thinking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345936" y="4776880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Nemotron-3-Super-120B-A12B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345936" y="5040228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Nemotron-3-Ultra-550B-A55B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-speculator</a:t>
            </a: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6"/>
          <p:cNvCxnSpPr/>
          <p:nvPr/>
        </p:nvCxnSpPr>
        <p:spPr>
          <a:xfrm>
            <a:off x="841248" y="594360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F0F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6"/>
          <p:cNvSpPr/>
          <p:nvPr/>
        </p:nvSpPr>
        <p:spPr>
          <a:xfrm>
            <a:off x="841248" y="6089904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.eagle3</a:t>
            </a:r>
            <a:r>
              <a:rPr b="0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 ×19     </a:t>
            </a:r>
            <a:r>
              <a:rPr b="1" i="0" lang="en-US" sz="100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.dflash</a:t>
            </a:r>
            <a:r>
              <a:rPr b="0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 ×7     </a:t>
            </a:r>
            <a:r>
              <a:rPr b="1" i="0" lang="en-US" sz="10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.dspark</a:t>
            </a:r>
            <a:r>
              <a:rPr b="0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 ×</a:t>
            </a:r>
            <a:r>
              <a:rPr lang="en-US" sz="1000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i="0" lang="en-US" sz="1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.peagle</a:t>
            </a:r>
            <a:r>
              <a:rPr b="0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 ×1       </a:t>
            </a: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verifier 8B → 55ØB，覆盖 Llama · Qwen3 · gpt-oss · Gemma · GLM · DeepSeek · Nemotron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7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238" name="Google Shape;2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训练一个真正的 Drafter：三条命令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准备数据 → 启动提取服务器 → 训练，一个 target，一个 draft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1060704" y="1975104"/>
            <a:ext cx="10058400" cy="1170432"/>
          </a:xfrm>
          <a:prstGeom prst="roundRect">
            <a:avLst>
              <a:gd fmla="val 7813" name="adj"/>
            </a:avLst>
          </a:prstGeom>
          <a:solidFill>
            <a:srgbClr val="FCFCFD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316736" y="2157984"/>
            <a:ext cx="310896" cy="310896"/>
          </a:xfrm>
          <a:prstGeom prst="ellipse">
            <a:avLst/>
          </a:prstGeom>
          <a:solidFill>
            <a:srgbClr val="EE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1316736" y="21579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737360" y="2121408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准备数据   </a:t>
            </a:r>
            <a:r>
              <a:rPr b="0" i="1" lang="en-US" sz="1150" u="none" cap="none" strike="noStrike">
                <a:solidFill>
                  <a:srgbClr val="9AA0AA"/>
                </a:solidFill>
                <a:latin typeface="Calibri"/>
                <a:ea typeface="Calibri"/>
                <a:cs typeface="Calibri"/>
                <a:sym typeface="Calibri"/>
              </a:rPr>
              <a:t>分词 + 构建 loss mask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737360" y="2468880"/>
            <a:ext cx="9125712" cy="566928"/>
          </a:xfrm>
          <a:prstGeom prst="roundRect">
            <a:avLst>
              <a:gd fmla="val 12903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956816" y="26151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scripts/prepare_data.py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--model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zai-org/GLM-5.2-FP8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--data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data.jsonl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--output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./out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--seq-length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8192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--assistant-pattern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'&lt;|assistant|&gt;…'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060704" y="3346704"/>
            <a:ext cx="10058400" cy="1170432"/>
          </a:xfrm>
          <a:prstGeom prst="roundRect">
            <a:avLst>
              <a:gd fmla="val 7813" name="adj"/>
            </a:avLst>
          </a:prstGeom>
          <a:solidFill>
            <a:srgbClr val="FCFCFD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316736" y="3529584"/>
            <a:ext cx="310896" cy="310896"/>
          </a:xfrm>
          <a:prstGeom prst="ellipse">
            <a:avLst/>
          </a:prstGeom>
          <a:solidFill>
            <a:srgbClr val="EE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1316736" y="35295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737360" y="3493008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启动 vLLM 提取服务器   </a:t>
            </a:r>
            <a:r>
              <a:rPr b="0" i="1" lang="en-US" sz="1150" u="none" cap="none" strike="noStrike">
                <a:solidFill>
                  <a:srgbClr val="9AA0AA"/>
                </a:solidFill>
                <a:latin typeface="Calibri"/>
                <a:ea typeface="Calibri"/>
                <a:cs typeface="Calibri"/>
                <a:sym typeface="Calibri"/>
              </a:rPr>
              <a:t>通过 connector 流式传输 Target 隐藏状态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737360" y="3840480"/>
            <a:ext cx="9125712" cy="566928"/>
          </a:xfrm>
          <a:prstGeom prst="roundRect">
            <a:avLst>
              <a:gd fmla="val 12903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1956816" y="39867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scripts/launch_vllm.py </a:t>
            </a:r>
            <a:r>
              <a:rPr b="0" i="0" lang="en-US" sz="9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zai-org/GLM-5.2-FP8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--target-layer-ids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39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55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--hidden-states-backend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mooncake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--mooncake-protocol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rdma 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--tensor-parallel-size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060704" y="4718304"/>
            <a:ext cx="10058400" cy="1170432"/>
          </a:xfrm>
          <a:prstGeom prst="roundRect">
            <a:avLst>
              <a:gd fmla="val 7813" name="adj"/>
            </a:avLst>
          </a:prstGeom>
          <a:solidFill>
            <a:srgbClr val="FCFCFD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316736" y="4901184"/>
            <a:ext cx="310896" cy="310896"/>
          </a:xfrm>
          <a:prstGeom prst="ellipse">
            <a:avLst/>
          </a:prstGeom>
          <a:solidFill>
            <a:srgbClr val="EE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1316736" y="49011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737360" y="4864608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训练草稿模型   </a:t>
            </a:r>
            <a:r>
              <a:rPr b="0" i="1" lang="en-US" sz="1150" u="none" cap="none" strike="noStrike">
                <a:solidFill>
                  <a:srgbClr val="9AA0AA"/>
                </a:solidFill>
                <a:latin typeface="Calibri"/>
                <a:ea typeface="Calibri"/>
                <a:cs typeface="Calibri"/>
                <a:sym typeface="Calibri"/>
              </a:rPr>
              <a:t>在线消费隐藏状态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737360" y="5212080"/>
            <a:ext cx="9125712" cy="566928"/>
          </a:xfrm>
          <a:prstGeom prst="roundRect">
            <a:avLst>
              <a:gd fmla="val 12903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1956816" y="53583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torchrun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--standalone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--nproc_per_node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scripts/train.py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--speculator-type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dspark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--verifier-name-or-path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GLM-5.2-FP8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--num-layers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--block-size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--markov-rank</a:t>
            </a:r>
            <a:r>
              <a:rPr b="0" i="0" lang="en-US" sz="9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256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80160" y="6144768"/>
            <a:ext cx="96286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提取后端可切换： --hidden-states-backend </a:t>
            </a:r>
            <a:r>
              <a:rPr b="1" i="0" lang="en-US" sz="10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（共享存储） | </a:t>
            </a:r>
            <a:r>
              <a:rPr b="1" i="0" lang="en-US" sz="10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mooncake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（RDMA，多节点）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268" name="Google Shape;2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8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270" name="Google Shape;2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8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0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config.json</a:t>
            </a: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，vLLM 自动检测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speculators 格式同时携带算法与训练时对应的 verifier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060704" y="2011680"/>
            <a:ext cx="5760720" cy="3566160"/>
          </a:xfrm>
          <a:prstGeom prst="roundRect">
            <a:avLst>
              <a:gd fmla="val 2051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1280160" y="2157984"/>
            <a:ext cx="5321808" cy="3273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"speculators_model_type":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"dspark"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"speculators_config":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"algorithm":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"dspark"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"proposal_methods":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[{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"speculative_tokens":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7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}],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"verifier":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"name_or_path":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"GLM-5.2-FP8"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"block_size":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8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"markov_rank":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256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"aux_hidden_state_layer_ids":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0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39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55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"enable_confidence_head":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true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"transformer_layer_config":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"model_type":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"qwen3"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"num_hidden_layers":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187184" y="2231136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speculators_model_type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 决定 vLLM 走</a:t>
            </a: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哪条草稿路径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60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verifier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 锁定草稿训练时对应的</a:t>
            </a: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确切 Target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60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每个字段与训练参数</a:t>
            </a: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 1:1 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对应；配方与 checkpoint 是同一个对象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60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markov_rank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 即低秩分解的 r（默认 256）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187184" y="4882896"/>
            <a:ext cx="4023360" cy="694944"/>
          </a:xfrm>
          <a:prstGeom prst="roundRect">
            <a:avLst>
              <a:gd fmla="val 10526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7406640" y="5029200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vllm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serve</a:t>
            </a: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RedHatAI/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GLM-5.2-speculator.dspark-</a:t>
            </a:r>
            <a:r>
              <a:rPr lang="en-US" sz="1050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preview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9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288" name="Google Shape;2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DSpark 解码循环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重型并行骨干 + 轻量序列头，由置信度调度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41248" y="19385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① target step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32688" y="2286000"/>
            <a:ext cx="2103120" cy="512064"/>
          </a:xfrm>
          <a:prstGeom prst="roundRect">
            <a:avLst>
              <a:gd fmla="val 12500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932688" y="2286000"/>
            <a:ext cx="2103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Target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32697" y="2962651"/>
            <a:ext cx="363600" cy="319800"/>
          </a:xfrm>
          <a:prstGeom prst="roundRect">
            <a:avLst>
              <a:gd fmla="val 15909" name="adj"/>
            </a:avLst>
          </a:prstGeom>
          <a:solidFill>
            <a:srgbClr val="FBEDC6"/>
          </a:solidFill>
          <a:ln cap="flat" cmpd="sng" w="101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932697" y="2962651"/>
            <a:ext cx="363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5"/>
              <a:buFont typeface="Calibri"/>
              <a:buNone/>
            </a:pPr>
            <a:r>
              <a:rPr b="1" i="0" lang="en-US" sz="875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368874" y="2962651"/>
            <a:ext cx="363600" cy="319800"/>
          </a:xfrm>
          <a:prstGeom prst="roundRect">
            <a:avLst>
              <a:gd fmla="val 15909" name="adj"/>
            </a:avLst>
          </a:prstGeom>
          <a:solidFill>
            <a:srgbClr val="FBEDC6"/>
          </a:solidFill>
          <a:ln cap="flat" cmpd="sng" w="101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1368874" y="2962651"/>
            <a:ext cx="363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5"/>
              <a:buFont typeface="Calibri"/>
              <a:buNone/>
            </a:pPr>
            <a:r>
              <a:rPr b="1" i="0" lang="en-US" sz="875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805050" y="2962651"/>
            <a:ext cx="363600" cy="319800"/>
          </a:xfrm>
          <a:prstGeom prst="roundRect">
            <a:avLst>
              <a:gd fmla="val 15909" name="adj"/>
            </a:avLst>
          </a:prstGeom>
          <a:solidFill>
            <a:srgbClr val="FBEDC6"/>
          </a:solidFill>
          <a:ln cap="flat" cmpd="sng" w="101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1805050" y="2962651"/>
            <a:ext cx="363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5"/>
              <a:buFont typeface="Calibri"/>
              <a:buNone/>
            </a:pPr>
            <a:r>
              <a:rPr b="1" i="0" lang="en-US" sz="875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677406" y="2967205"/>
            <a:ext cx="363600" cy="320100"/>
          </a:xfrm>
          <a:prstGeom prst="roundRect">
            <a:avLst>
              <a:gd fmla="val 15909" name="adj"/>
            </a:avLst>
          </a:prstGeom>
          <a:solidFill>
            <a:srgbClr val="FBEDC6"/>
          </a:solidFill>
          <a:ln cap="flat" cmpd="sng" w="101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00" lIns="72700" spcFirstLastPara="1" rIns="72700" wrap="square" tIns="7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2677400" y="2967200"/>
            <a:ext cx="363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5"/>
              <a:buFont typeface="Calibri"/>
              <a:buNone/>
            </a:pPr>
            <a:r>
              <a:rPr b="1" i="0" lang="en-US" sz="875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41248" y="34564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D = 锚点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419856" y="1792224"/>
            <a:ext cx="5358384" cy="2889504"/>
          </a:xfrm>
          <a:prstGeom prst="roundRect">
            <a:avLst>
              <a:gd fmla="val 3165" name="adj"/>
            </a:avLst>
          </a:prstGeom>
          <a:solidFill>
            <a:srgbClr val="FCFCFD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639312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② DSpark drafting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639312" y="2249424"/>
            <a:ext cx="402336" cy="365760"/>
          </a:xfrm>
          <a:prstGeom prst="roundRect">
            <a:avLst>
              <a:gd fmla="val 17500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639312" y="2249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114800" y="2249424"/>
            <a:ext cx="402336" cy="365760"/>
          </a:xfrm>
          <a:prstGeom prst="roundRect">
            <a:avLst>
              <a:gd fmla="val 17500" name="adj"/>
            </a:avLst>
          </a:prstGeom>
          <a:solidFill>
            <a:srgbClr val="FFFFFF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114800" y="2249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90288" y="2249424"/>
            <a:ext cx="402336" cy="365760"/>
          </a:xfrm>
          <a:prstGeom prst="roundRect">
            <a:avLst>
              <a:gd fmla="val 17500" name="adj"/>
            </a:avLst>
          </a:prstGeom>
          <a:solidFill>
            <a:srgbClr val="FFFFFF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4590288" y="2249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065776" y="2249424"/>
            <a:ext cx="402336" cy="365760"/>
          </a:xfrm>
          <a:prstGeom prst="roundRect">
            <a:avLst>
              <a:gd fmla="val 17500" name="adj"/>
            </a:avLst>
          </a:prstGeom>
          <a:solidFill>
            <a:srgbClr val="FFFFFF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5065776" y="2249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614416" y="2249424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anchor + mask positions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639312" y="2724912"/>
            <a:ext cx="4919472" cy="384048"/>
          </a:xfrm>
          <a:prstGeom prst="roundRect">
            <a:avLst>
              <a:gd fmla="val 11905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3785616" y="2724912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2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B23"/>
                </a:solidFill>
                <a:latin typeface="Calibri"/>
                <a:ea typeface="Calibri"/>
                <a:cs typeface="Calibri"/>
                <a:sym typeface="Calibri"/>
              </a:rPr>
              <a:t>并行骨干 (DFlash)  </a:t>
            </a: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一次非因果前向 → 所有位置同时出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767328" y="31638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↓ U₁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956048" y="31638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↓ U₂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144768" y="31638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↓ U₃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333488" y="31638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↓ U₄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639312" y="3474720"/>
            <a:ext cx="4919472" cy="786384"/>
          </a:xfrm>
          <a:prstGeom prst="roundRect">
            <a:avLst>
              <a:gd fmla="val 5814" name="adj"/>
            </a:avLst>
          </a:prstGeom>
          <a:solidFill>
            <a:srgbClr val="FBFAFF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785616" y="352958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Markov head</a:t>
            </a:r>
            <a:r>
              <a:rPr b="0" i="0" lang="en-US" sz="9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  ·  从左到右  ·  为下一位置加低秩偏置 Bₖ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626864" y="3803904"/>
            <a:ext cx="457200" cy="365760"/>
          </a:xfrm>
          <a:prstGeom prst="roundRect">
            <a:avLst>
              <a:gd fmla="val 17500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626864" y="38039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084064" y="3803904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+B▸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413248" y="3803904"/>
            <a:ext cx="457200" cy="365760"/>
          </a:xfrm>
          <a:prstGeom prst="roundRect">
            <a:avLst>
              <a:gd fmla="val 17500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5413248" y="38039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870448" y="3803904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+B▸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199632" y="3803904"/>
            <a:ext cx="457200" cy="365760"/>
          </a:xfrm>
          <a:prstGeom prst="roundRect">
            <a:avLst>
              <a:gd fmla="val 17500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199632" y="38039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656832" y="3803904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+B▸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986016" y="3803904"/>
            <a:ext cx="457200" cy="365760"/>
          </a:xfrm>
          <a:prstGeom prst="roundRect">
            <a:avLst>
              <a:gd fmla="val 17500" name="adj"/>
            </a:avLst>
          </a:prstGeom>
          <a:solidFill>
            <a:srgbClr val="F5F6F8"/>
          </a:solidFill>
          <a:ln cap="flat" cmpd="sng" w="12700">
            <a:solidFill>
              <a:srgbClr val="E3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6986016" y="38039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639312" y="4334256"/>
            <a:ext cx="4919472" cy="274320"/>
          </a:xfrm>
          <a:prstGeom prst="roundRect">
            <a:avLst>
              <a:gd fmla="val 13333" name="adj"/>
            </a:avLst>
          </a:prstGeom>
          <a:solidFill>
            <a:srgbClr val="E7EEFB"/>
          </a:solidFill>
          <a:ln cap="flat" cmpd="sng" w="12700">
            <a:solidFill>
              <a:srgbClr val="B9C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785616" y="433425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前缀调度器</a:t>
            </a: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  c₁ c₂ c₃ c₄   </a:t>
            </a:r>
            <a:r>
              <a:rPr b="1" i="0" lang="en-US" sz="95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保留 E F G</a:t>
            </a:r>
            <a:r>
              <a:rPr b="0" i="0" lang="en-US" sz="9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   丢弃 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070848" y="19385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③ parallel verify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9162288" y="2286000"/>
            <a:ext cx="2103120" cy="512064"/>
          </a:xfrm>
          <a:prstGeom prst="roundRect">
            <a:avLst>
              <a:gd fmla="val 12500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9162288" y="2286000"/>
            <a:ext cx="2103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Target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9162288" y="2962656"/>
            <a:ext cx="621792" cy="402336"/>
          </a:xfrm>
          <a:prstGeom prst="roundRect">
            <a:avLst>
              <a:gd fmla="val 15909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9162288" y="2962656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E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9875520" y="2962656"/>
            <a:ext cx="621792" cy="402336"/>
          </a:xfrm>
          <a:prstGeom prst="roundRect">
            <a:avLst>
              <a:gd fmla="val 15909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875520" y="2962656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F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0588752" y="2962656"/>
            <a:ext cx="621792" cy="402336"/>
          </a:xfrm>
          <a:prstGeom prst="roundRect">
            <a:avLst>
              <a:gd fmla="val 15909" name="adj"/>
            </a:avLst>
          </a:prstGeom>
          <a:solidFill>
            <a:srgbClr val="F9DEE1"/>
          </a:solidFill>
          <a:ln cap="flat" cmpd="sng" w="12700">
            <a:solidFill>
              <a:srgbClr val="EBB4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10588752" y="2962656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G 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070848" y="34564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emit  G*  → 下一轮锚点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371600" y="4974336"/>
            <a:ext cx="9509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一次前向拿到整个块 → 保留 DFlash 的吞吐；近乎零成本的 Markov 修正恢复</a:t>
            </a: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接近自回归的块内一致性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60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置信度头与前缀调度器裁掉低置信尾部 —— </a:t>
            </a:r>
            <a:r>
              <a:rPr b="1" i="0" lang="en-US" sz="1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模型不确定时草稿自动变短</a:t>
            </a:r>
            <a:r>
              <a:rPr b="0" i="0" lang="en-US" sz="13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，不浪费 Target 的批次容量。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" name="Google Shape;348;p9"/>
          <p:cNvCxnSpPr/>
          <p:nvPr/>
        </p:nvCxnSpPr>
        <p:spPr>
          <a:xfrm flipH="1" rot="10800000">
            <a:off x="2290275" y="3117201"/>
            <a:ext cx="2655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355" name="Google Shape;3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10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357" name="Google Shape;3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离线效果：DSpark 全面领先两条基线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接受长度（含 bonus token），温度 1.0，链式草稿，关闭置信度调度器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889608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Qwen3-14B 目标模型  ·  论文 Table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626968" y="228600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GSM8K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870552" y="228600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MATH500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114136" y="228600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MBPP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357720" y="228600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HumanEval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601304" y="228600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MT-Bench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1889608" y="261518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Eagle3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626968" y="2615184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5.24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870552" y="2615184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4.60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114136" y="2615184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3.81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357720" y="2615184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4.14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8601304" y="2615184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2.62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889608" y="31272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DFlash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626968" y="3127248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5.41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870552" y="3127248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4.84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114136" y="3127248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4.44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357720" y="3127248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4.59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8601304" y="3127248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3.10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670152" y="3639312"/>
            <a:ext cx="8174736" cy="475488"/>
          </a:xfrm>
          <a:prstGeom prst="roundRect">
            <a:avLst>
              <a:gd fmla="val 19231" name="adj"/>
            </a:avLst>
          </a:prstGeom>
          <a:solidFill>
            <a:srgbClr val="FDF5E7"/>
          </a:solidFill>
          <a:ln cap="flat" cmpd="sng" w="12700">
            <a:solidFill>
              <a:srgbClr val="F0D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1889608" y="363931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DSpark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626968" y="3639312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6.21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870552" y="3639312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5.74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114136" y="3639312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5.26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7357720" y="3639312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5.43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601304" y="3639312"/>
            <a:ext cx="1243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3.70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1280160" y="4224528"/>
            <a:ext cx="96286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块内位置接受率（Qwen3-4B, Fig.2）：DFlash 位置 1 即领先（Math Ø.88 vs Ø.81），但块内衰减（Code Ø.87→Ø.78）；DSpark 从 Ø.93 起步且全块平稳。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1286104" y="4645152"/>
            <a:ext cx="2962656" cy="1609344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432408" y="4828032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+3Ø.Ø%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505560" y="5614416"/>
            <a:ext cx="25237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对 Eagle3 的宏平均接受长度提升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（4B / 8B 为 +30.9% / +26.7%）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614520" y="4645152"/>
            <a:ext cx="2962656" cy="1609344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4760824" y="4828032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+18.3%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833976" y="5614416"/>
            <a:ext cx="25237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对 DFlash 的宏平均接受长度提升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（4B / 8B 为 +16.3% / +18.4%）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942936" y="4645152"/>
            <a:ext cx="2962656" cy="1609344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8089240" y="4828032"/>
            <a:ext cx="26700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+Ø.2~1.3%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8162392" y="5614416"/>
            <a:ext cx="25237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序列头带来的单轮延迟开销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块长 4 → 16，batch 128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403" name="Google Shape;4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12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405" name="Google Shape;40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2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vLLM Model Runner V2</a:t>
            </a: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：稳态</a:t>
            </a:r>
            <a:r>
              <a:rPr lang="en-US" sz="3300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接近</a:t>
            </a: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零气泡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Target 前向、GPU 验证、整个 Drafter —— 一次 worker 调用内完成，与 CPU 调度重叠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188720" y="2048256"/>
            <a:ext cx="19751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调度器 (CPU)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169664" y="2048256"/>
            <a:ext cx="2922422" cy="438912"/>
          </a:xfrm>
          <a:prstGeom prst="roundRect">
            <a:avLst>
              <a:gd fmla="val 10417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4169664" y="2048256"/>
            <a:ext cx="292242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调度 + 准备 N+1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7263994" y="2048256"/>
            <a:ext cx="2062886" cy="438912"/>
          </a:xfrm>
          <a:prstGeom prst="roundRect">
            <a:avLst>
              <a:gd fmla="val 10417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7263994" y="2048256"/>
            <a:ext cx="206288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准备 N+2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1188720" y="2615184"/>
            <a:ext cx="19751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执行模型（GPU）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310128" y="2615184"/>
            <a:ext cx="859536" cy="438912"/>
          </a:xfrm>
          <a:prstGeom prst="roundRect">
            <a:avLst>
              <a:gd fmla="val 10417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310128" y="2615184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dr N-1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212641" y="2615184"/>
            <a:ext cx="2234794" cy="438912"/>
          </a:xfrm>
          <a:prstGeom prst="roundRect">
            <a:avLst>
              <a:gd fmla="val 10417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4212641" y="2615184"/>
            <a:ext cx="223479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A6D1F"/>
                </a:solidFill>
                <a:latin typeface="Consolas"/>
                <a:ea typeface="Consolas"/>
                <a:cs typeface="Consolas"/>
                <a:sym typeface="Consolas"/>
              </a:rPr>
              <a:t>target fwd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6490411" y="2615184"/>
            <a:ext cx="859536" cy="438912"/>
          </a:xfrm>
          <a:prstGeom prst="roundRect">
            <a:avLst>
              <a:gd fmla="val 10417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6490411" y="2615184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verify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7392924" y="2615184"/>
            <a:ext cx="1117397" cy="438912"/>
          </a:xfrm>
          <a:prstGeom prst="roundRect">
            <a:avLst>
              <a:gd fmla="val 10417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7392924" y="2615184"/>
            <a:ext cx="1117397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drafter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8553298" y="2615184"/>
            <a:ext cx="2234794" cy="438912"/>
          </a:xfrm>
          <a:prstGeom prst="roundRect">
            <a:avLst>
              <a:gd fmla="val 10417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8553298" y="2615184"/>
            <a:ext cx="223479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A6D1F"/>
                </a:solidFill>
                <a:latin typeface="Consolas"/>
                <a:ea typeface="Consolas"/>
                <a:cs typeface="Consolas"/>
                <a:sym typeface="Consolas"/>
              </a:rPr>
              <a:t>target fwd N+1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188720" y="3182112"/>
            <a:ext cx="19751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输出复制 (D2H)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169664" y="3182112"/>
            <a:ext cx="1375258" cy="438912"/>
          </a:xfrm>
          <a:prstGeom prst="roundRect">
            <a:avLst>
              <a:gd fmla="val 10417" name="adj"/>
            </a:avLst>
          </a:prstGeom>
          <a:solidFill>
            <a:srgbClr val="F5F6F8"/>
          </a:solidFill>
          <a:ln cap="flat" cmpd="sng" w="12700">
            <a:solidFill>
              <a:srgbClr val="E3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4169664" y="3182112"/>
            <a:ext cx="137525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copy N-1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7263994" y="3182112"/>
            <a:ext cx="1375258" cy="438912"/>
          </a:xfrm>
          <a:prstGeom prst="roundRect">
            <a:avLst>
              <a:gd fmla="val 10417" name="adj"/>
            </a:avLst>
          </a:prstGeom>
          <a:solidFill>
            <a:srgbClr val="F5F6F8"/>
          </a:solidFill>
          <a:ln cap="flat" cmpd="sng" w="12700">
            <a:solidFill>
              <a:srgbClr val="E3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7263994" y="3182112"/>
            <a:ext cx="137525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copy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0972800" y="31821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→ 时间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66064" y="4059936"/>
            <a:ext cx="3200400" cy="1700784"/>
          </a:xfrm>
          <a:prstGeom prst="roundRect">
            <a:avLst>
              <a:gd fmla="val 53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966064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异步调度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203808" y="4718304"/>
            <a:ext cx="2724912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CPU 调度与输入准备和 GPU 执行重叠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草稿 token id 在 worker 内部更新，不再往返调度器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4495648" y="4059936"/>
            <a:ext cx="3200400" cy="1700784"/>
          </a:xfrm>
          <a:prstGeom prst="roundRect">
            <a:avLst>
              <a:gd fmla="val 53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4495648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完整 CUDA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733392" y="4718304"/>
            <a:ext cx="2724912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整个草稿步骤捕获为一个 Graph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消除微小 Drafter 的每次 kernel 启动开销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025232" y="4059936"/>
            <a:ext cx="3200400" cy="1700784"/>
          </a:xfrm>
          <a:prstGeom prst="roundRect">
            <a:avLst>
              <a:gd fmla="val 5376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8025232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GPU 端验证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262976" y="4718304"/>
            <a:ext cx="2724912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Shared-gumbel 随机性拒绝采样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整块一次验证，减少 TP 通信，与 Graph 兼容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447" name="Google Shape;4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" name="Google Shape;448;p13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449" name="Google Shape;4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3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隐藏状态从哪来？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Drafter 要在数十亿 token 上蒸馏 Target 的内部状态。两条路。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1060704" y="1700784"/>
            <a:ext cx="10058400" cy="2084832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 cap="flat" cmpd="sng" w="15875">
            <a:solidFill>
              <a:srgbClr val="EBB4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1371600" y="182880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08A90"/>
                </a:solidFill>
                <a:latin typeface="Calibri"/>
                <a:ea typeface="Calibri"/>
                <a:cs typeface="Calibri"/>
                <a:sym typeface="Calibri"/>
              </a:rPr>
              <a:t>离线</a:t>
            </a:r>
            <a:r>
              <a:rPr b="1" i="0" lang="en-US" sz="16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  ·  先</a:t>
            </a:r>
            <a:r>
              <a:rPr b="1" lang="en-US" sz="1600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写入磁盘</a:t>
            </a:r>
            <a:r>
              <a:rPr b="1" i="0" lang="en-US" sz="16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，再训练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669280" y="1847088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target 或精度一改就全部作废  ·  回读本身又是一堵带宽墙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2084832" y="2340864"/>
            <a:ext cx="1792224" cy="658368"/>
          </a:xfrm>
          <a:prstGeom prst="roundRect">
            <a:avLst>
              <a:gd fmla="val 9722" name="adj"/>
            </a:avLst>
          </a:prstGeom>
          <a:solidFill>
            <a:srgbClr val="E7EEFB"/>
          </a:solidFill>
          <a:ln cap="flat" cmpd="sng" w="12700">
            <a:solidFill>
              <a:srgbClr val="B9C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2084832" y="2386584"/>
            <a:ext cx="1792224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563C9"/>
                </a:solidFill>
                <a:latin typeface="Calibri"/>
                <a:ea typeface="Calibri"/>
                <a:cs typeface="Calibri"/>
                <a:sym typeface="Calibri"/>
              </a:rPr>
              <a:t>vLLM target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084832" y="2689799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prefill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986784" y="2340864"/>
            <a:ext cx="78638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write 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882896" y="2267712"/>
            <a:ext cx="2432304" cy="804672"/>
          </a:xfrm>
          <a:prstGeom prst="roundRect">
            <a:avLst>
              <a:gd fmla="val 7955" name="adj"/>
            </a:avLst>
          </a:prstGeom>
          <a:solidFill>
            <a:srgbClr val="F9DEE1"/>
          </a:solidFill>
          <a:ln cap="flat" cmpd="sng" w="190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4882896" y="2322576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300"/>
              <a:buFont typeface="Consolas"/>
              <a:buNone/>
            </a:pPr>
            <a:r>
              <a:rPr b="1" i="0" lang="en-US" sz="2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~239 TB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882896" y="274320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hidden-state dump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7424928" y="2340864"/>
            <a:ext cx="78638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◂ read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8321040" y="2340864"/>
            <a:ext cx="1792224" cy="658368"/>
          </a:xfrm>
          <a:prstGeom prst="roundRect">
            <a:avLst>
              <a:gd fmla="val 9722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8321040" y="2386584"/>
            <a:ext cx="1792224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8321040" y="2689799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DP draft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371600" y="3255264"/>
            <a:ext cx="9436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GLM-5.2 在 OpenPerfectBlend 上重生成： </a:t>
            </a:r>
            <a:r>
              <a:rPr b="1" i="0" lang="en-US" sz="10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3.2 B tokens × 72 KB/token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1060704" y="3950208"/>
            <a:ext cx="10058400" cy="1956816"/>
          </a:xfrm>
          <a:prstGeom prst="roundRect">
            <a:avLst>
              <a:gd fmla="val 4673" name="adj"/>
            </a:avLst>
          </a:prstGeom>
          <a:solidFill>
            <a:srgbClr val="F8F6FE"/>
          </a:solidFill>
          <a:ln cap="flat" cmpd="sng" w="15875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1371600" y="4096512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在线  ·  边训边流  ·  </a:t>
            </a:r>
            <a:r>
              <a:rPr b="1" lang="en-US" sz="1600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不经过磁盘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6035040" y="4114800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FC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A8FC9"/>
                </a:solidFill>
                <a:latin typeface="Consolas"/>
                <a:ea typeface="Consolas"/>
                <a:cs typeface="Consolas"/>
                <a:sym typeface="Consolas"/>
              </a:rPr>
              <a:t>produce → consume → free，每批即用即弃  ·  零陈旧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2743200" y="4754880"/>
            <a:ext cx="1792224" cy="658368"/>
          </a:xfrm>
          <a:prstGeom prst="roundRect">
            <a:avLst>
              <a:gd fmla="val 9722" name="adj"/>
            </a:avLst>
          </a:prstGeom>
          <a:solidFill>
            <a:srgbClr val="E7EEFB"/>
          </a:solidFill>
          <a:ln cap="flat" cmpd="sng" w="12700">
            <a:solidFill>
              <a:srgbClr val="B9C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2743200" y="4800600"/>
            <a:ext cx="1792224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563C9"/>
                </a:solidFill>
                <a:latin typeface="Calibri"/>
                <a:ea typeface="Calibri"/>
                <a:cs typeface="Calibri"/>
                <a:sym typeface="Calibri"/>
              </a:rPr>
              <a:t>vLLM target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2743200" y="5103815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prefill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626864" y="4626864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hidden states 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626864" y="4882896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4626864" y="528523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◂ </a:t>
            </a:r>
            <a:r>
              <a:rPr lang="en-US" sz="900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批量请求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291072" y="4754880"/>
            <a:ext cx="1792224" cy="658368"/>
          </a:xfrm>
          <a:prstGeom prst="roundRect">
            <a:avLst>
              <a:gd fmla="val 9722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6291072" y="4800600"/>
            <a:ext cx="1792224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291072" y="5103815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9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DP draft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8284464" y="4754880"/>
            <a:ext cx="182880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875">
            <a:solidFill>
              <a:srgbClr val="6D4A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8284464" y="47548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路径上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没有存储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489" name="Google Shape;4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" name="Google Shape;490;p14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491" name="Google Shape;4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提取：把隐藏状态伪装成 KV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不新造提取通路</a:t>
            </a:r>
            <a:r>
              <a:rPr lang="en-US" sz="1650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复用 vLLM 已经打磨好的</a:t>
            </a:r>
            <a:r>
              <a:rPr lang="en-US" sz="1650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KVConnector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1331824" y="1956816"/>
            <a:ext cx="2651760" cy="914400"/>
          </a:xfrm>
          <a:prstGeom prst="roundRect">
            <a:avLst>
              <a:gd fmla="val 7000" name="adj"/>
            </a:avLst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1331824" y="204825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8A6D1F"/>
                </a:solidFill>
                <a:latin typeface="Calibri"/>
                <a:ea typeface="Calibri"/>
                <a:cs typeface="Calibri"/>
                <a:sym typeface="Calibri"/>
              </a:rPr>
              <a:t>Target 前向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1441552" y="2359152"/>
            <a:ext cx="24323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抽出辅助激活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层 [8,23,39,55,70]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4075024" y="1956816"/>
            <a:ext cx="603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4769968" y="1956816"/>
            <a:ext cx="2651760" cy="914400"/>
          </a:xfrm>
          <a:prstGeom prst="roundRect">
            <a:avLst>
              <a:gd fmla="val 7000" name="adj"/>
            </a:avLst>
          </a:prstGeom>
          <a:solidFill>
            <a:srgbClr val="EFEBFE"/>
          </a:solidFill>
          <a:ln cap="flat" cmpd="sng" w="12700">
            <a:solidFill>
              <a:srgbClr val="CAB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4769968" y="204825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伪装成 KV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4879696" y="2359152"/>
            <a:ext cx="24323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直接落进 KV 槽位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无 reshape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7513168" y="1956816"/>
            <a:ext cx="603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208112" y="1956816"/>
            <a:ext cx="2651760" cy="914400"/>
          </a:xfrm>
          <a:prstGeom prst="roundRect">
            <a:avLst>
              <a:gd fmla="val 7000" name="adj"/>
            </a:avLst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8208112" y="204825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KV Connector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8317840" y="2359152"/>
            <a:ext cx="24323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沿用服务侧管道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送到训练器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1060704" y="3401568"/>
            <a:ext cx="10076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维度巧用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1828800" y="3785616"/>
            <a:ext cx="8531352" cy="1371600"/>
          </a:xfrm>
          <a:prstGeom prst="roundRect">
            <a:avLst>
              <a:gd fmla="val 6667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2103120" y="404164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[T, L, H]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2103120" y="4443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辅助激活栈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4572000" y="4023360"/>
            <a:ext cx="3017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令 num_heads = 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head_size = 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315968" y="4041648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7607808" y="4041648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8BDC6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863840" y="404164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4E9A3E"/>
                </a:solidFill>
                <a:latin typeface="Consolas"/>
                <a:ea typeface="Consolas"/>
                <a:cs typeface="Consolas"/>
                <a:sym typeface="Consolas"/>
              </a:rPr>
              <a:t>KV 槽位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7863840" y="4443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严丝合缝，一个字节不用动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828800" y="4791456"/>
            <a:ext cx="8531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层轴伪装成注意力头  ·  无 reshape  ·  无额外注意力计算  ·  顺带白拿前缀缓存复用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5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523" name="Google Shape;5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" name="Google Shape;524;p15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525" name="Google Shape;5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5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Mooncake connector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跨网络是分池的必然结果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1060704" y="17739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这条路径的硬性要求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1060704" y="215798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1426464" y="21579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跨节点，且不假设共享 FS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1426464" y="246888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生产者池和训练器池本就在不同机器上，很多集群没有快的共享文件系统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1060704" y="31272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1426464" y="3127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按 key 寻址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1426464" y="3438144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生产者不知道谁会消费、什么时候消费</a:t>
            </a:r>
            <a:r>
              <a:rPr lang="en-US" sz="1100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两侧不能互相寻址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1060704" y="4096512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1426464" y="409651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单边读取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1426464" y="440740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传输不能占生产者的 CPU，那边还在跑在线 prefill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1060704" y="5065776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1426464" y="506577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有界 + 可驱逐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426464" y="537667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背压要能控制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6620256" y="1773936"/>
            <a:ext cx="4517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候选方案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6620256" y="2157984"/>
            <a:ext cx="4517136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6839712" y="2304288"/>
            <a:ext cx="292608" cy="292608"/>
          </a:xfrm>
          <a:prstGeom prst="ellipse">
            <a:avLst/>
          </a:prstGeom>
          <a:solidFill>
            <a:srgbClr val="F9DEE1"/>
          </a:solidFill>
          <a:ln cap="flat" cmpd="sng" w="12700">
            <a:solidFill>
              <a:srgbClr val="EBB4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6839712" y="23042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7242048" y="22677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共享文件系统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7242048" y="2578608"/>
            <a:ext cx="3675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磁盘横在路径中间，且要求集群本来就有一套快的 FS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620256" y="3127248"/>
            <a:ext cx="4517136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839712" y="3273552"/>
            <a:ext cx="292608" cy="292608"/>
          </a:xfrm>
          <a:prstGeom prst="ellipse">
            <a:avLst/>
          </a:prstGeom>
          <a:solidFill>
            <a:srgbClr val="F9DEE1"/>
          </a:solidFill>
          <a:ln cap="flat" cmpd="sng" w="12700">
            <a:solidFill>
              <a:srgbClr val="EBB4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6839712" y="32735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7242048" y="32369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NCCL 等集合通信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7242048" y="3547872"/>
            <a:ext cx="3675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需要固定通信域和锁步参与；这里是异步、动态、多对多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6620256" y="4096512"/>
            <a:ext cx="4517136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6839712" y="4242816"/>
            <a:ext cx="292608" cy="292608"/>
          </a:xfrm>
          <a:prstGeom prst="ellipse">
            <a:avLst/>
          </a:prstGeom>
          <a:solidFill>
            <a:srgbClr val="FBEDC6"/>
          </a:solidFill>
          <a:ln cap="flat" cmpd="sng" w="12700">
            <a:solidFill>
              <a:srgbClr val="EFD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6839712" y="42428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7242048" y="42062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直接使用</a:t>
            </a:r>
            <a:r>
              <a:rPr b="1" i="0" lang="en-US" sz="135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 RDMA / UCX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7242048" y="4517136"/>
            <a:ext cx="3675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传得动，但寻址、生命周期、驱逐、背压全得自己从头写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620256" y="5065776"/>
            <a:ext cx="4517136" cy="841248"/>
          </a:xfrm>
          <a:prstGeom prst="roundRect">
            <a:avLst>
              <a:gd fmla="val 10870" name="adj"/>
            </a:avLst>
          </a:prstGeom>
          <a:solidFill>
            <a:srgbClr val="F6FBF4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6839712" y="5212080"/>
            <a:ext cx="292608" cy="292608"/>
          </a:xfrm>
          <a:prstGeom prst="ellipse">
            <a:avLst/>
          </a:prstGeom>
          <a:solidFill>
            <a:srgbClr val="E4F3DE"/>
          </a:solidFill>
          <a:ln cap="flat" cmpd="sng" w="12700">
            <a:solidFill>
              <a:srgbClr val="A9D7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6839712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7242048" y="51755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Mooncake Store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7242048" y="5486400"/>
            <a:ext cx="3675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673"/>
                </a:solidFill>
                <a:latin typeface="Calibri"/>
                <a:ea typeface="Calibri"/>
                <a:cs typeface="Calibri"/>
                <a:sym typeface="Calibri"/>
              </a:rPr>
              <a:t>四条全中，而且 vLLM 做 PD 分离时已经在用它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6"/>
          <p:cNvSpPr/>
          <p:nvPr/>
        </p:nvSpPr>
        <p:spPr>
          <a:xfrm>
            <a:off x="566928" y="6345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erene-zealous-hamilton/mnt/outputs/logo_vllm.png" id="570" name="Google Shape;5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5328" y="6437376"/>
            <a:ext cx="248044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1" name="Google Shape;571;p16"/>
          <p:cNvCxnSpPr/>
          <p:nvPr/>
        </p:nvCxnSpPr>
        <p:spPr>
          <a:xfrm>
            <a:off x="11001388" y="6446520"/>
            <a:ext cx="0" cy="237744"/>
          </a:xfrm>
          <a:prstGeom prst="straightConnector1">
            <a:avLst/>
          </a:prstGeom>
          <a:noFill/>
          <a:ln cap="flat" cmpd="sng" w="12700">
            <a:solidFill>
              <a:srgbClr val="DADDE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erene-zealous-hamilton/mnt/outputs/logo_redhat.png" id="572" name="Google Shape;5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9404" y="6457859"/>
            <a:ext cx="283630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6"/>
          <p:cNvSpPr/>
          <p:nvPr/>
        </p:nvSpPr>
        <p:spPr>
          <a:xfrm>
            <a:off x="1097280" y="438912"/>
            <a:ext cx="9994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3300"/>
              <a:buFont typeface="Calibri"/>
              <a:buNone/>
            </a:pPr>
            <a:r>
              <a:rPr b="0" i="0" lang="en-US" sz="33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立即体验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1097280" y="1170432"/>
            <a:ext cx="9994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训练你自己的 Drafter，或</a:t>
            </a:r>
            <a:r>
              <a:rPr lang="en-US" sz="1650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者用</a:t>
            </a:r>
            <a:r>
              <a:rPr b="0" i="0" lang="en-US" sz="165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一行命令</a:t>
            </a:r>
            <a:r>
              <a:rPr lang="en-US" sz="1650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部署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1883664" y="2011680"/>
            <a:ext cx="8430768" cy="1700784"/>
          </a:xfrm>
          <a:prstGeom prst="roundRect">
            <a:avLst>
              <a:gd fmla="val 4301" name="adj"/>
            </a:avLst>
          </a:prstGeom>
          <a:solidFill>
            <a:srgbClr val="FAFAFC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2103120" y="2157984"/>
            <a:ext cx="7991856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# 服务任何已发布的 speculator，verifier 从 config.json 自动检测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vllm</a:t>
            </a: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serve</a:t>
            </a: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RedHatAI/Qwen3-8B-speculator.</a:t>
            </a:r>
            <a:r>
              <a:rPr lang="en-US" sz="1100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dflash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A0A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AA0AA"/>
                </a:solidFill>
                <a:latin typeface="Consolas"/>
                <a:ea typeface="Consolas"/>
                <a:cs typeface="Consolas"/>
                <a:sym typeface="Consolas"/>
              </a:rPr>
              <a:t># 或显式指定方法和草稿模型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vllm</a:t>
            </a: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6D4AEE"/>
                </a:solidFill>
                <a:latin typeface="Consolas"/>
                <a:ea typeface="Consolas"/>
                <a:cs typeface="Consolas"/>
                <a:sym typeface="Consolas"/>
              </a:rPr>
              <a:t>serve</a:t>
            </a: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zai-org/GLM-5.2-FP8</a:t>
            </a: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2563C9"/>
                </a:solidFill>
                <a:latin typeface="Consolas"/>
                <a:ea typeface="Consolas"/>
                <a:cs typeface="Consolas"/>
                <a:sym typeface="Consolas"/>
              </a:rPr>
              <a:t>--speculative-config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113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100" u="none" cap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'{"method":"dspark","model":"RedHatAI/GLM-5.2-speculator.dspark"}'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975208" y="4023360"/>
            <a:ext cx="2340864" cy="1152144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975208" y="4206240"/>
            <a:ext cx="2340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A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D4AEE"/>
                </a:solidFill>
                <a:latin typeface="Calibri"/>
                <a:ea typeface="Calibri"/>
                <a:cs typeface="Calibri"/>
                <a:sym typeface="Calibri"/>
              </a:rPr>
              <a:t>代码库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1103224" y="4553712"/>
            <a:ext cx="20848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github.com/vllm-project/speculators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3608680" y="4023360"/>
            <a:ext cx="2340864" cy="1152144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3608680" y="4206240"/>
            <a:ext cx="2340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0000"/>
                </a:solidFill>
                <a:latin typeface="Calibri"/>
                <a:ea typeface="Calibri"/>
                <a:cs typeface="Calibri"/>
                <a:sym typeface="Calibri"/>
              </a:rPr>
              <a:t>文档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3736696" y="4553712"/>
            <a:ext cx="20848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docs.vllm.ai/projects/speculators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6242152" y="4023360"/>
            <a:ext cx="2340864" cy="1152144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6242152" y="4206240"/>
            <a:ext cx="2340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9A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9A3E"/>
                </a:solidFill>
                <a:latin typeface="Calibri"/>
                <a:ea typeface="Calibri"/>
                <a:cs typeface="Calibri"/>
                <a:sym typeface="Calibri"/>
              </a:rPr>
              <a:t>Drafter 合集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6370168" y="4553712"/>
            <a:ext cx="20848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hf.co/collections/RedHatAI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8875624" y="4023360"/>
            <a:ext cx="2340864" cy="1152144"/>
          </a:xfrm>
          <a:prstGeom prst="roundRect">
            <a:avLst>
              <a:gd fmla="val 7937" name="adj"/>
            </a:avLst>
          </a:prstGeom>
          <a:solidFill>
            <a:srgbClr val="FFFFFF"/>
          </a:solidFill>
          <a:ln cap="flat" cmpd="sng" w="12700">
            <a:solidFill>
              <a:srgbClr val="E6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8875624" y="4206240"/>
            <a:ext cx="2340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C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C9"/>
                </a:solidFill>
                <a:latin typeface="Calibri"/>
                <a:ea typeface="Calibri"/>
                <a:cs typeface="Calibri"/>
                <a:sym typeface="Calibri"/>
              </a:rPr>
              <a:t>DSpark 论文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9003640" y="4553712"/>
            <a:ext cx="20848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F6673"/>
                </a:solidFill>
                <a:latin typeface="Consolas"/>
                <a:ea typeface="Consolas"/>
                <a:cs typeface="Consolas"/>
                <a:sym typeface="Consolas"/>
              </a:rPr>
              <a:t>arxiv.org/abs/26Ø7.Ø5147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1097280" y="5486400"/>
            <a:ext cx="9994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1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11318"/>
                </a:solidFill>
                <a:latin typeface="Calibri"/>
                <a:ea typeface="Calibri"/>
                <a:cs typeface="Calibri"/>
                <a:sym typeface="Calibri"/>
              </a:rPr>
              <a:t>谢谢  ·  欢迎提问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1097280" y="5943600"/>
            <a:ext cx="9994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DC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8BDC6"/>
                </a:solidFill>
                <a:latin typeface="Consolas"/>
                <a:ea typeface="Consolas"/>
                <a:cs typeface="Consolas"/>
                <a:sym typeface="Consolas"/>
              </a:rPr>
              <a:t>vLLM Community Slack:  #speculators  ·  #feat-spec-decode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402327" y="0"/>
            <a:ext cx="4110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402326" y="5760729"/>
            <a:ext cx="41100" cy="1097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2026-07-22T22:13:47Z</dcterms:created>
  <dc:creator>赵杉佳雯</dc:creator>
</cp:coreProperties>
</file>